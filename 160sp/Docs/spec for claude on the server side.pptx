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3"/>
    <p:sldId id="263" r:id="rId4"/>
    <p:sldId id="264" r:id="rId5"/>
    <p:sldId id="261" r:id="rId6"/>
    <p:sldId id="260" r:id="rId7"/>
    <p:sldId id="267" r:id="rId8"/>
    <p:sldId id="257" r:id="rId9"/>
    <p:sldId id="266" r:id="rId10"/>
    <p:sldId id="265" r:id="rId11"/>
    <p:sldId id="259" r:id="rId12"/>
    <p:sldId id="268" r:id="rId13"/>
    <p:sldId id="269" r:id="rId14"/>
    <p:sldId id="270" r:id="rId15"/>
    <p:sldId id="25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93"/>
    <p:restoredTop sz="94658"/>
  </p:normalViewPr>
  <p:slideViewPr>
    <p:cSldViewPr snapToGrid="0">
      <p:cViewPr>
        <p:scale>
          <a:sx n="87" d="100"/>
          <a:sy n="87" d="100"/>
        </p:scale>
        <p:origin x="744" y="8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59B90-A78B-0226-A900-7D3F844679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50373E-BDF0-169F-EA94-291ADEEC47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EF94A0-12C9-9D28-4FBD-595718ECD6F7}"/>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5" name="Footer Placeholder 4">
            <a:extLst>
              <a:ext uri="{FF2B5EF4-FFF2-40B4-BE49-F238E27FC236}">
                <a16:creationId xmlns:a16="http://schemas.microsoft.com/office/drawing/2014/main" id="{B346F4C3-9B8F-B825-F23A-97EB9F3CD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264F2D-400B-DA71-E775-96501912DF2D}"/>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2454888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6992-B509-37F8-32D8-CEDC33E08C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CB144F-2F98-B7B1-B453-1D0D1DC6E2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782D1B-ABB1-5544-879C-0F8D76F2D072}"/>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5" name="Footer Placeholder 4">
            <a:extLst>
              <a:ext uri="{FF2B5EF4-FFF2-40B4-BE49-F238E27FC236}">
                <a16:creationId xmlns:a16="http://schemas.microsoft.com/office/drawing/2014/main" id="{F7597C16-684F-873E-A14B-BE794D7EC1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0FD928-A4A4-3B40-87B2-B39B83B406D7}"/>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2122712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782FF-3E0E-08EE-8BA4-C8E046AD6A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0BEBA2-CBA1-3BE9-5442-DD2E72BEB9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CC029B-DC6E-1296-9408-2C8ED5B0EFEB}"/>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5" name="Footer Placeholder 4">
            <a:extLst>
              <a:ext uri="{FF2B5EF4-FFF2-40B4-BE49-F238E27FC236}">
                <a16:creationId xmlns:a16="http://schemas.microsoft.com/office/drawing/2014/main" id="{ECED9CBB-9495-28F1-8AA4-4C5DB0F41D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F4B833-5343-B190-8E81-CEA0759741C2}"/>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1208598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14617-F4DC-6C36-0393-4D1F4161CD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9A58DD-F58F-2B63-A0A7-42AE232612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76FED2-A2F8-BDD1-FBC4-B705FC2AFC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E5A153-3C06-9EC5-C96E-18616852D9D3}"/>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6" name="Footer Placeholder 5">
            <a:extLst>
              <a:ext uri="{FF2B5EF4-FFF2-40B4-BE49-F238E27FC236}">
                <a16:creationId xmlns:a16="http://schemas.microsoft.com/office/drawing/2014/main" id="{514000E5-0E96-8C97-65D3-A3EC1FEF20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422EF2-12D0-B7FC-E3A9-1440D3094763}"/>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762491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080EC-2287-2DD7-5C36-7F47049B1D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C5754B5-71B7-079C-7B65-550AC1AC04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C710B9-ACFD-66A4-D5F9-3545F6D4F9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2C2F1C-A277-79D3-A325-698A55DD27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E578A4-E518-9C11-2707-BDA2BFC4EB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AD66C-5998-B8FD-4A22-C7CAC58E3DAF}"/>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8" name="Footer Placeholder 7">
            <a:extLst>
              <a:ext uri="{FF2B5EF4-FFF2-40B4-BE49-F238E27FC236}">
                <a16:creationId xmlns:a16="http://schemas.microsoft.com/office/drawing/2014/main" id="{8D8F1D4F-E549-C3C1-8603-67372F15C6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2D29DA-97E0-AF02-C746-D96D2A392D4D}"/>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3528512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1B431-1C38-E595-0DD5-F0611EAA56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2E48F8-59BE-2DA1-B160-51AB8C6239BD}"/>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4" name="Footer Placeholder 3">
            <a:extLst>
              <a:ext uri="{FF2B5EF4-FFF2-40B4-BE49-F238E27FC236}">
                <a16:creationId xmlns:a16="http://schemas.microsoft.com/office/drawing/2014/main" id="{B2230B27-43EE-88E4-F988-05DE48D4F3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AFE6BB-9A3F-95D4-7F59-FFB555079624}"/>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45637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C42DE7-0074-879E-E436-11FCBC1EC692}"/>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3" name="Footer Placeholder 2">
            <a:extLst>
              <a:ext uri="{FF2B5EF4-FFF2-40B4-BE49-F238E27FC236}">
                <a16:creationId xmlns:a16="http://schemas.microsoft.com/office/drawing/2014/main" id="{C990554D-5220-EB32-A81A-376CB0786D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FD4E61-6B11-78B9-AFB7-FFDFAC87DB78}"/>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4148858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50A67-2C58-52A0-1890-E8229B7D61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4EB9C1-690B-AC76-D14D-3F12D2F6DB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17E5A4-DBCF-30A9-7279-EF15F333B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D84886-7C9B-2B62-A355-C89792BFB5E3}"/>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6" name="Footer Placeholder 5">
            <a:extLst>
              <a:ext uri="{FF2B5EF4-FFF2-40B4-BE49-F238E27FC236}">
                <a16:creationId xmlns:a16="http://schemas.microsoft.com/office/drawing/2014/main" id="{FB529BC1-8007-7834-DCF6-72DAC7F231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16FD84-53B0-17B7-C4A2-7EC12AC96BCC}"/>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2028349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B8722-5E91-483E-F517-B6DEB82DB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00C5A2-15DB-FC9E-30C7-9A68003A7A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9404BF-57F2-D4EC-5533-1C9DF032C5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F846B8-2F2B-59F1-97AE-AB37B001AA56}"/>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6" name="Footer Placeholder 5">
            <a:extLst>
              <a:ext uri="{FF2B5EF4-FFF2-40B4-BE49-F238E27FC236}">
                <a16:creationId xmlns:a16="http://schemas.microsoft.com/office/drawing/2014/main" id="{F6998DE0-04FA-3F8D-5DB9-652673CCB2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20A9E7-EB3D-BFE4-6588-31C27D126483}"/>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1693041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90115-3866-BCAD-3A0B-7475D456BB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A8F041-391A-213B-DBAC-B73E215CB7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465186-D203-C1BF-ABE9-FEFA9C81A6C2}"/>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5" name="Footer Placeholder 4">
            <a:extLst>
              <a:ext uri="{FF2B5EF4-FFF2-40B4-BE49-F238E27FC236}">
                <a16:creationId xmlns:a16="http://schemas.microsoft.com/office/drawing/2014/main" id="{783D6F60-BE81-FC6D-F285-F13C57595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A9942-E44D-4AB3-6D3E-22B2CC67D620}"/>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1683618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584D80-CCA9-5605-4999-73197B0BAF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591BC9-180A-F47F-F526-9450ABFA45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56614E-C80B-A242-459C-2590DA48FF77}"/>
              </a:ext>
            </a:extLst>
          </p:cNvPr>
          <p:cNvSpPr>
            <a:spLocks noGrp="1"/>
          </p:cNvSpPr>
          <p:nvPr>
            <p:ph type="dt" sz="half" idx="10"/>
          </p:nvPr>
        </p:nvSpPr>
        <p:spPr/>
        <p:txBody>
          <a:bodyPr/>
          <a:lstStyle/>
          <a:p>
            <a:fld id="{FCC8CA51-5EED-3D4F-B890-AC1A7D9440D4}" type="datetimeFigureOut">
              <a:rPr lang="en-US" smtClean="0"/>
              <a:t>4/2/26</a:t>
            </a:fld>
            <a:endParaRPr lang="en-US"/>
          </a:p>
        </p:txBody>
      </p:sp>
      <p:sp>
        <p:nvSpPr>
          <p:cNvPr id="5" name="Footer Placeholder 4">
            <a:extLst>
              <a:ext uri="{FF2B5EF4-FFF2-40B4-BE49-F238E27FC236}">
                <a16:creationId xmlns:a16="http://schemas.microsoft.com/office/drawing/2014/main" id="{C84019A3-F18D-6688-916D-3842B74B76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5E314-F668-51C9-FF44-0136B85783D5}"/>
              </a:ext>
            </a:extLst>
          </p:cNvPr>
          <p:cNvSpPr>
            <a:spLocks noGrp="1"/>
          </p:cNvSpPr>
          <p:nvPr>
            <p:ph type="sldNum" sz="quarter" idx="12"/>
          </p:nvPr>
        </p:nvSpPr>
        <p:spPr/>
        <p:txBody>
          <a:bodyPr/>
          <a:lstStyle/>
          <a:p>
            <a:fld id="{2871D66B-556D-B141-8362-4DB685EAFB32}" type="slidenum">
              <a:rPr lang="en-US" smtClean="0"/>
              <a:t>‹#›</a:t>
            </a:fld>
            <a:endParaRPr lang="en-US"/>
          </a:p>
        </p:txBody>
      </p:sp>
    </p:spTree>
    <p:extLst>
      <p:ext uri="{BB962C8B-B14F-4D97-AF65-F5344CB8AC3E}">
        <p14:creationId xmlns:p14="http://schemas.microsoft.com/office/powerpoint/2010/main" val="818893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2BB52B-5215-BA73-E6C5-4BA4510CBA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4F839E-71CD-1AE1-C1C4-CD41C6035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EF10D1-50FF-1EEF-2A65-50563006CF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C8CA51-5EED-3D4F-B890-AC1A7D9440D4}" type="datetimeFigureOut">
              <a:rPr lang="en-US" smtClean="0"/>
              <a:t>4/2/26</a:t>
            </a:fld>
            <a:endParaRPr lang="en-US"/>
          </a:p>
        </p:txBody>
      </p:sp>
      <p:sp>
        <p:nvSpPr>
          <p:cNvPr id="5" name="Footer Placeholder 4">
            <a:extLst>
              <a:ext uri="{FF2B5EF4-FFF2-40B4-BE49-F238E27FC236}">
                <a16:creationId xmlns:a16="http://schemas.microsoft.com/office/drawing/2014/main" id="{D2F9710B-D27F-91DF-ADAC-F9CBBF5A94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0EAA783-EEFB-7BAD-CAC1-C2E83C859B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71D66B-556D-B141-8362-4DB685EAFB32}" type="slidenum">
              <a:rPr lang="en-US" smtClean="0"/>
              <a:t>‹#›</a:t>
            </a:fld>
            <a:endParaRPr lang="en-US"/>
          </a:p>
        </p:txBody>
      </p:sp>
    </p:spTree>
    <p:extLst>
      <p:ext uri="{BB962C8B-B14F-4D97-AF65-F5344CB8AC3E}">
        <p14:creationId xmlns:p14="http://schemas.microsoft.com/office/powerpoint/2010/main" val="489786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1527-1356-5BC7-B454-AC533C29E569}"/>
              </a:ext>
            </a:extLst>
          </p:cNvPr>
          <p:cNvSpPr>
            <a:spLocks noGrp="1"/>
          </p:cNvSpPr>
          <p:nvPr>
            <p:ph type="ctrTitle"/>
          </p:nvPr>
        </p:nvSpPr>
        <p:spPr/>
        <p:txBody>
          <a:bodyPr/>
          <a:lstStyle/>
          <a:p>
            <a:r>
              <a:rPr lang="en-US" dirty="0"/>
              <a:t>160 AI&amp; VR </a:t>
            </a:r>
            <a:br>
              <a:rPr lang="en-US" dirty="0"/>
            </a:br>
            <a:r>
              <a:rPr lang="en-US" dirty="0"/>
              <a:t>Thurs’s Class Activities</a:t>
            </a:r>
          </a:p>
        </p:txBody>
      </p:sp>
      <p:sp>
        <p:nvSpPr>
          <p:cNvPr id="3" name="Subtitle 2">
            <a:extLst>
              <a:ext uri="{FF2B5EF4-FFF2-40B4-BE49-F238E27FC236}">
                <a16:creationId xmlns:a16="http://schemas.microsoft.com/office/drawing/2014/main" id="{5F0394B9-B83D-7CE7-86D5-81BA54B719C7}"/>
              </a:ext>
            </a:extLst>
          </p:cNvPr>
          <p:cNvSpPr>
            <a:spLocks noGrp="1"/>
          </p:cNvSpPr>
          <p:nvPr>
            <p:ph type="subTitle" idx="1"/>
          </p:nvPr>
        </p:nvSpPr>
        <p:spPr/>
        <p:txBody>
          <a:bodyPr/>
          <a:lstStyle/>
          <a:p>
            <a:r>
              <a:rPr lang="en-US" dirty="0"/>
              <a:t>April 2</a:t>
            </a:r>
            <a:r>
              <a:rPr lang="en-US" baseline="30000" dirty="0"/>
              <a:t>nd</a:t>
            </a:r>
            <a:r>
              <a:rPr lang="en-US" dirty="0"/>
              <a:t> </a:t>
            </a:r>
          </a:p>
        </p:txBody>
      </p:sp>
    </p:spTree>
    <p:extLst>
      <p:ext uri="{BB962C8B-B14F-4D97-AF65-F5344CB8AC3E}">
        <p14:creationId xmlns:p14="http://schemas.microsoft.com/office/powerpoint/2010/main" val="2273370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9B670-019F-82EF-5478-F1118FD9BB0F}"/>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ED9AD0C9-3E46-EE71-1729-268288BDD2D7}"/>
              </a:ext>
            </a:extLst>
          </p:cNvPr>
          <p:cNvPicPr>
            <a:picLocks noGrp="1" noChangeAspect="1"/>
          </p:cNvPicPr>
          <p:nvPr>
            <p:ph idx="1"/>
          </p:nvPr>
        </p:nvPicPr>
        <p:blipFill>
          <a:blip r:embed="rId2"/>
          <a:stretch>
            <a:fillRect/>
          </a:stretch>
        </p:blipFill>
        <p:spPr>
          <a:xfrm>
            <a:off x="2082326" y="1825625"/>
            <a:ext cx="8027348" cy="4351338"/>
          </a:xfrm>
          <a:prstGeom prst="rect">
            <a:avLst/>
          </a:prstGeom>
        </p:spPr>
      </p:pic>
    </p:spTree>
    <p:extLst>
      <p:ext uri="{BB962C8B-B14F-4D97-AF65-F5344CB8AC3E}">
        <p14:creationId xmlns:p14="http://schemas.microsoft.com/office/powerpoint/2010/main" val="246745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5B9C2-48F7-DC17-FAF7-79EB2E6B6757}"/>
              </a:ext>
            </a:extLst>
          </p:cNvPr>
          <p:cNvSpPr>
            <a:spLocks noGrp="1"/>
          </p:cNvSpPr>
          <p:nvPr>
            <p:ph type="title"/>
          </p:nvPr>
        </p:nvSpPr>
        <p:spPr/>
        <p:txBody>
          <a:bodyPr/>
          <a:lstStyle/>
          <a:p>
            <a:r>
              <a:rPr lang="en-US" dirty="0"/>
              <a:t>Getting started as a student – interaction	</a:t>
            </a:r>
          </a:p>
        </p:txBody>
      </p:sp>
      <p:sp>
        <p:nvSpPr>
          <p:cNvPr id="3" name="Content Placeholder 2">
            <a:extLst>
              <a:ext uri="{FF2B5EF4-FFF2-40B4-BE49-F238E27FC236}">
                <a16:creationId xmlns:a16="http://schemas.microsoft.com/office/drawing/2014/main" id="{C67F4BEA-3577-27F0-3CDE-84F45BD4FC52}"/>
              </a:ext>
            </a:extLst>
          </p:cNvPr>
          <p:cNvSpPr>
            <a:spLocks noGrp="1"/>
          </p:cNvSpPr>
          <p:nvPr>
            <p:ph idx="1"/>
          </p:nvPr>
        </p:nvSpPr>
        <p:spPr/>
        <p:txBody>
          <a:bodyPr>
            <a:normAutofit/>
          </a:bodyPr>
          <a:lstStyle/>
          <a:p>
            <a:r>
              <a:rPr lang="en-US" dirty="0"/>
              <a:t>On clicking here if the person is not a yet logged in as a student they are taken to the login/registration page where it they fill in the registration form correctly they are automatically registered without my approval. Then when they login they are taken to the next page in this ppt. - the get started</a:t>
            </a:r>
          </a:p>
          <a:p>
            <a:r>
              <a:rPr lang="en-US" dirty="0"/>
              <a:t>If students login and they have already done A0 then they go to the course schedule page </a:t>
            </a:r>
          </a:p>
          <a:p>
            <a:pPr marL="0" indent="0">
              <a:buNone/>
            </a:pPr>
            <a:r>
              <a:rPr lang="en-US" dirty="0"/>
              <a:t> </a:t>
            </a:r>
          </a:p>
          <a:p>
            <a:pPr lvl="1"/>
            <a:endParaRPr lang="en-US" dirty="0"/>
          </a:p>
        </p:txBody>
      </p:sp>
    </p:spTree>
    <p:extLst>
      <p:ext uri="{BB962C8B-B14F-4D97-AF65-F5344CB8AC3E}">
        <p14:creationId xmlns:p14="http://schemas.microsoft.com/office/powerpoint/2010/main" val="4285962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72AB8-F0A9-53EE-2517-4D68011554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F9F10A-7EA2-6401-3B62-3EC42985CE24}"/>
              </a:ext>
            </a:extLst>
          </p:cNvPr>
          <p:cNvSpPr>
            <a:spLocks noGrp="1"/>
          </p:cNvSpPr>
          <p:nvPr>
            <p:ph idx="1"/>
          </p:nvPr>
        </p:nvSpPr>
        <p:spPr/>
        <p:txBody>
          <a:bodyPr>
            <a:normAutofit fontScale="92500" lnSpcReduction="10000"/>
          </a:bodyPr>
          <a:lstStyle/>
          <a:p>
            <a:r>
              <a:rPr lang="en-US" dirty="0"/>
              <a:t>There is an inconsistency in the navigation somewhere.  Look at the pages we have and find the navigation that looks like it is for students in 160 – show it to me</a:t>
            </a:r>
          </a:p>
          <a:p>
            <a:r>
              <a:rPr lang="en-US" dirty="0"/>
              <a:t>I want there to be a breadcrumb for this </a:t>
            </a:r>
            <a:r>
              <a:rPr lang="en-US" dirty="0" err="1"/>
              <a:t>intial</a:t>
            </a:r>
            <a:r>
              <a:rPr lang="en-US" dirty="0"/>
              <a:t> student sequence</a:t>
            </a:r>
          </a:p>
          <a:p>
            <a:r>
              <a:rPr lang="en-US" dirty="0"/>
              <a:t>So when they land on get started the page title in the body should be in the breadcrumb position and we use that for this sequence </a:t>
            </a:r>
          </a:p>
          <a:p>
            <a:pPr lvl="1"/>
            <a:r>
              <a:rPr lang="en-US" dirty="0"/>
              <a:t>COGS160 start &gt; AI Methodology &gt; Collect Articles &gt; The 4 Tracks </a:t>
            </a:r>
          </a:p>
          <a:p>
            <a:pPr lvl="1"/>
            <a:r>
              <a:rPr lang="en-US" dirty="0"/>
              <a:t>Obviously the breadcrumb sequence just written is what you see when you finally get to The 4 Tracks – they unfold in the correct manner step by step</a:t>
            </a:r>
          </a:p>
          <a:p>
            <a:r>
              <a:rPr lang="en-US" dirty="0"/>
              <a:t>Create the necessary connections with CTA’s if they are not already there and the breadcrumbs should be hot</a:t>
            </a:r>
          </a:p>
        </p:txBody>
      </p:sp>
    </p:spTree>
    <p:extLst>
      <p:ext uri="{BB962C8B-B14F-4D97-AF65-F5344CB8AC3E}">
        <p14:creationId xmlns:p14="http://schemas.microsoft.com/office/powerpoint/2010/main" val="263436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2EFA-1E73-B118-DD0A-046C4ED95E61}"/>
              </a:ext>
            </a:extLst>
          </p:cNvPr>
          <p:cNvSpPr>
            <a:spLocks noGrp="1"/>
          </p:cNvSpPr>
          <p:nvPr>
            <p:ph type="title"/>
          </p:nvPr>
        </p:nvSpPr>
        <p:spPr>
          <a:xfrm>
            <a:off x="152400" y="218452"/>
            <a:ext cx="2514600" cy="1325563"/>
          </a:xfrm>
        </p:spPr>
        <p:txBody>
          <a:bodyPr/>
          <a:lstStyle/>
          <a:p>
            <a:r>
              <a:rPr lang="en-US" dirty="0"/>
              <a:t>Start here </a:t>
            </a:r>
          </a:p>
        </p:txBody>
      </p:sp>
      <p:pic>
        <p:nvPicPr>
          <p:cNvPr id="4" name="Content Placeholder 3">
            <a:extLst>
              <a:ext uri="{FF2B5EF4-FFF2-40B4-BE49-F238E27FC236}">
                <a16:creationId xmlns:a16="http://schemas.microsoft.com/office/drawing/2014/main" id="{F863C17C-EB0A-722F-6714-6672DC6CFF00}"/>
              </a:ext>
            </a:extLst>
          </p:cNvPr>
          <p:cNvPicPr>
            <a:picLocks noGrp="1" noChangeAspect="1"/>
          </p:cNvPicPr>
          <p:nvPr>
            <p:ph idx="1"/>
          </p:nvPr>
        </p:nvPicPr>
        <p:blipFill>
          <a:blip r:embed="rId2"/>
          <a:stretch>
            <a:fillRect/>
          </a:stretch>
        </p:blipFill>
        <p:spPr>
          <a:xfrm>
            <a:off x="2667000" y="0"/>
            <a:ext cx="9104936" cy="6639548"/>
          </a:xfrm>
          <a:prstGeom prst="rect">
            <a:avLst/>
          </a:prstGeom>
        </p:spPr>
      </p:pic>
    </p:spTree>
    <p:extLst>
      <p:ext uri="{BB962C8B-B14F-4D97-AF65-F5344CB8AC3E}">
        <p14:creationId xmlns:p14="http://schemas.microsoft.com/office/powerpoint/2010/main" val="1364061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895EC-9AB5-7D24-F2EC-22159852C693}"/>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1A0096B5-5A13-60CA-90F1-B9B53E228DB6}"/>
              </a:ext>
            </a:extLst>
          </p:cNvPr>
          <p:cNvPicPr>
            <a:picLocks noGrp="1" noChangeAspect="1"/>
          </p:cNvPicPr>
          <p:nvPr>
            <p:ph idx="1"/>
          </p:nvPr>
        </p:nvPicPr>
        <p:blipFill>
          <a:blip r:embed="rId2"/>
          <a:stretch>
            <a:fillRect/>
          </a:stretch>
        </p:blipFill>
        <p:spPr>
          <a:xfrm>
            <a:off x="838199" y="0"/>
            <a:ext cx="10209245" cy="6467135"/>
          </a:xfrm>
          <a:prstGeom prst="rect">
            <a:avLst/>
          </a:prstGeom>
        </p:spPr>
      </p:pic>
    </p:spTree>
    <p:extLst>
      <p:ext uri="{BB962C8B-B14F-4D97-AF65-F5344CB8AC3E}">
        <p14:creationId xmlns:p14="http://schemas.microsoft.com/office/powerpoint/2010/main" val="1675133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A48D1-4F51-C77F-7168-2125E73AF3E1}"/>
              </a:ext>
            </a:extLst>
          </p:cNvPr>
          <p:cNvSpPr>
            <a:spLocks noGrp="1"/>
          </p:cNvSpPr>
          <p:nvPr>
            <p:ph type="title"/>
          </p:nvPr>
        </p:nvSpPr>
        <p:spPr/>
        <p:txBody>
          <a:bodyPr/>
          <a:lstStyle/>
          <a:p>
            <a:r>
              <a:rPr lang="en-US" dirty="0"/>
              <a:t>Add CTA to AI Methodology </a:t>
            </a:r>
          </a:p>
        </p:txBody>
      </p:sp>
      <p:sp>
        <p:nvSpPr>
          <p:cNvPr id="3" name="Content Placeholder 2">
            <a:extLst>
              <a:ext uri="{FF2B5EF4-FFF2-40B4-BE49-F238E27FC236}">
                <a16:creationId xmlns:a16="http://schemas.microsoft.com/office/drawing/2014/main" id="{E68D8182-440F-5DF4-0E59-4FC82ED143C4}"/>
              </a:ext>
            </a:extLst>
          </p:cNvPr>
          <p:cNvSpPr>
            <a:spLocks noGrp="1"/>
          </p:cNvSpPr>
          <p:nvPr>
            <p:ph idx="1"/>
          </p:nvPr>
        </p:nvSpPr>
        <p:spPr/>
        <p:txBody>
          <a:bodyPr/>
          <a:lstStyle/>
          <a:p>
            <a:r>
              <a:rPr lang="en-US" dirty="0"/>
              <a:t>Because students are sent to the AI methodology page first and they are supposed to go A0 Collect Articles second there has to be a second CTA at the bottom of each AI Methodology page that says   Collect Articles Assignment </a:t>
            </a:r>
          </a:p>
        </p:txBody>
      </p:sp>
    </p:spTree>
    <p:extLst>
      <p:ext uri="{BB962C8B-B14F-4D97-AF65-F5344CB8AC3E}">
        <p14:creationId xmlns:p14="http://schemas.microsoft.com/office/powerpoint/2010/main" val="2035320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E953A-D4EA-18BD-69B6-64D20F652A5F}"/>
              </a:ext>
            </a:extLst>
          </p:cNvPr>
          <p:cNvSpPr>
            <a:spLocks noGrp="1"/>
          </p:cNvSpPr>
          <p:nvPr>
            <p:ph type="title"/>
          </p:nvPr>
        </p:nvSpPr>
        <p:spPr/>
        <p:txBody>
          <a:bodyPr/>
          <a:lstStyle/>
          <a:p>
            <a:endParaRPr lang="en-US" dirty="0"/>
          </a:p>
        </p:txBody>
      </p:sp>
      <p:pic>
        <p:nvPicPr>
          <p:cNvPr id="4" name="Content Placeholder 3">
            <a:extLst>
              <a:ext uri="{FF2B5EF4-FFF2-40B4-BE49-F238E27FC236}">
                <a16:creationId xmlns:a16="http://schemas.microsoft.com/office/drawing/2014/main" id="{7AE09879-F407-1C18-F749-C1B84173F0DE}"/>
              </a:ext>
            </a:extLst>
          </p:cNvPr>
          <p:cNvPicPr>
            <a:picLocks noGrp="1" noChangeAspect="1"/>
          </p:cNvPicPr>
          <p:nvPr>
            <p:ph idx="1"/>
          </p:nvPr>
        </p:nvPicPr>
        <p:blipFill>
          <a:blip r:embed="rId2"/>
          <a:stretch>
            <a:fillRect/>
          </a:stretch>
        </p:blipFill>
        <p:spPr>
          <a:xfrm>
            <a:off x="838200" y="1956866"/>
            <a:ext cx="10515600" cy="4088856"/>
          </a:xfrm>
          <a:prstGeom prst="rect">
            <a:avLst/>
          </a:prstGeom>
        </p:spPr>
      </p:pic>
    </p:spTree>
    <p:extLst>
      <p:ext uri="{BB962C8B-B14F-4D97-AF65-F5344CB8AC3E}">
        <p14:creationId xmlns:p14="http://schemas.microsoft.com/office/powerpoint/2010/main" val="1982183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BDB97-A485-04A2-5399-489B3ABDC77D}"/>
              </a:ext>
            </a:extLst>
          </p:cNvPr>
          <p:cNvSpPr>
            <a:spLocks noGrp="1"/>
          </p:cNvSpPr>
          <p:nvPr>
            <p:ph type="title"/>
          </p:nvPr>
        </p:nvSpPr>
        <p:spPr/>
        <p:txBody>
          <a:bodyPr/>
          <a:lstStyle/>
          <a:p>
            <a:r>
              <a:rPr lang="en-US" dirty="0"/>
              <a:t>After the collect article page</a:t>
            </a:r>
          </a:p>
        </p:txBody>
      </p:sp>
      <p:sp>
        <p:nvSpPr>
          <p:cNvPr id="3" name="Content Placeholder 2">
            <a:extLst>
              <a:ext uri="{FF2B5EF4-FFF2-40B4-BE49-F238E27FC236}">
                <a16:creationId xmlns:a16="http://schemas.microsoft.com/office/drawing/2014/main" id="{DED6B3CB-B3B2-D96D-9292-BD34B6872FCA}"/>
              </a:ext>
            </a:extLst>
          </p:cNvPr>
          <p:cNvSpPr>
            <a:spLocks noGrp="1"/>
          </p:cNvSpPr>
          <p:nvPr>
            <p:ph idx="1"/>
          </p:nvPr>
        </p:nvSpPr>
        <p:spPr/>
        <p:txBody>
          <a:bodyPr/>
          <a:lstStyle/>
          <a:p>
            <a:r>
              <a:rPr lang="en-US" dirty="0"/>
              <a:t>The CTA to The 4 Tracks should be a new page that is made from just the item 3 Choose your Track part of the Get started page.  The tracks in the cards link the same way</a:t>
            </a:r>
          </a:p>
        </p:txBody>
      </p:sp>
      <p:pic>
        <p:nvPicPr>
          <p:cNvPr id="4" name="Picture 3">
            <a:extLst>
              <a:ext uri="{FF2B5EF4-FFF2-40B4-BE49-F238E27FC236}">
                <a16:creationId xmlns:a16="http://schemas.microsoft.com/office/drawing/2014/main" id="{21579BAA-9A83-E3DB-AE1C-4837A17EA856}"/>
              </a:ext>
            </a:extLst>
          </p:cNvPr>
          <p:cNvPicPr>
            <a:picLocks noChangeAspect="1"/>
          </p:cNvPicPr>
          <p:nvPr/>
        </p:nvPicPr>
        <p:blipFill>
          <a:blip r:embed="rId2"/>
          <a:stretch>
            <a:fillRect/>
          </a:stretch>
        </p:blipFill>
        <p:spPr>
          <a:xfrm>
            <a:off x="7029450" y="2844800"/>
            <a:ext cx="4767263" cy="3467100"/>
          </a:xfrm>
          <a:prstGeom prst="rect">
            <a:avLst/>
          </a:prstGeom>
        </p:spPr>
      </p:pic>
    </p:spTree>
    <p:extLst>
      <p:ext uri="{BB962C8B-B14F-4D97-AF65-F5344CB8AC3E}">
        <p14:creationId xmlns:p14="http://schemas.microsoft.com/office/powerpoint/2010/main" val="894447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8FCDF-B038-98B9-D2BC-53C33368B7C0}"/>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E788071D-2DF5-E5E0-A10D-C47BD8376F39}"/>
              </a:ext>
            </a:extLst>
          </p:cNvPr>
          <p:cNvPicPr>
            <a:picLocks noGrp="1" noChangeAspect="1"/>
          </p:cNvPicPr>
          <p:nvPr>
            <p:ph idx="1"/>
          </p:nvPr>
        </p:nvPicPr>
        <p:blipFill>
          <a:blip r:embed="rId2"/>
          <a:stretch>
            <a:fillRect/>
          </a:stretch>
        </p:blipFill>
        <p:spPr>
          <a:xfrm>
            <a:off x="3104455" y="1825625"/>
            <a:ext cx="5983089" cy="4351338"/>
          </a:xfrm>
          <a:prstGeom prst="rect">
            <a:avLst/>
          </a:prstGeom>
        </p:spPr>
      </p:pic>
    </p:spTree>
    <p:extLst>
      <p:ext uri="{BB962C8B-B14F-4D97-AF65-F5344CB8AC3E}">
        <p14:creationId xmlns:p14="http://schemas.microsoft.com/office/powerpoint/2010/main" val="76521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66D51-762E-D37D-FEF1-37D5277DD4E2}"/>
              </a:ext>
            </a:extLst>
          </p:cNvPr>
          <p:cNvSpPr>
            <a:spLocks noGrp="1"/>
          </p:cNvSpPr>
          <p:nvPr>
            <p:ph type="title"/>
          </p:nvPr>
        </p:nvSpPr>
        <p:spPr/>
        <p:txBody>
          <a:bodyPr/>
          <a:lstStyle/>
          <a:p>
            <a:r>
              <a:rPr lang="en-US" dirty="0"/>
              <a:t>This is the course schedule page that becomes the student default</a:t>
            </a:r>
          </a:p>
        </p:txBody>
      </p:sp>
      <p:pic>
        <p:nvPicPr>
          <p:cNvPr id="4" name="Content Placeholder 3">
            <a:extLst>
              <a:ext uri="{FF2B5EF4-FFF2-40B4-BE49-F238E27FC236}">
                <a16:creationId xmlns:a16="http://schemas.microsoft.com/office/drawing/2014/main" id="{F6854D58-94A4-E464-5F84-4767F126B1D6}"/>
              </a:ext>
            </a:extLst>
          </p:cNvPr>
          <p:cNvPicPr>
            <a:picLocks noGrp="1" noChangeAspect="1"/>
          </p:cNvPicPr>
          <p:nvPr>
            <p:ph idx="1"/>
          </p:nvPr>
        </p:nvPicPr>
        <p:blipFill>
          <a:blip r:embed="rId2"/>
          <a:stretch>
            <a:fillRect/>
          </a:stretch>
        </p:blipFill>
        <p:spPr>
          <a:xfrm>
            <a:off x="3967316" y="1626318"/>
            <a:ext cx="7695380" cy="4705501"/>
          </a:xfrm>
          <a:prstGeom prst="rect">
            <a:avLst/>
          </a:prstGeom>
        </p:spPr>
      </p:pic>
    </p:spTree>
    <p:extLst>
      <p:ext uri="{BB962C8B-B14F-4D97-AF65-F5344CB8AC3E}">
        <p14:creationId xmlns:p14="http://schemas.microsoft.com/office/powerpoint/2010/main" val="371978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5E04-C98F-C425-FDBE-2B2FC4DFBEF0}"/>
              </a:ext>
            </a:extLst>
          </p:cNvPr>
          <p:cNvSpPr>
            <a:spLocks noGrp="1"/>
          </p:cNvSpPr>
          <p:nvPr>
            <p:ph type="title"/>
          </p:nvPr>
        </p:nvSpPr>
        <p:spPr/>
        <p:txBody>
          <a:bodyPr/>
          <a:lstStyle/>
          <a:p>
            <a:r>
              <a:rPr lang="en-US" dirty="0"/>
              <a:t>END – ignore next pages </a:t>
            </a:r>
          </a:p>
        </p:txBody>
      </p:sp>
      <p:sp>
        <p:nvSpPr>
          <p:cNvPr id="3" name="Content Placeholder 2">
            <a:extLst>
              <a:ext uri="{FF2B5EF4-FFF2-40B4-BE49-F238E27FC236}">
                <a16:creationId xmlns:a16="http://schemas.microsoft.com/office/drawing/2014/main" id="{654DCBAD-C875-0DBF-2A4D-31C9D26F1B8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1878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7B4D9-6045-1A77-F6EB-C56A99EE1B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6CAB6E-7EB2-D883-F188-C6455727A1E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88197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162AE-58A9-3338-72A2-C2AF09FFC0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E6EC4B-8D84-7B72-6DE2-BA8D0DA86A0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91798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C20-292F-3223-737F-00883CFF8FC3}"/>
              </a:ext>
            </a:extLst>
          </p:cNvPr>
          <p:cNvSpPr>
            <a:spLocks noGrp="1"/>
          </p:cNvSpPr>
          <p:nvPr>
            <p:ph type="title"/>
          </p:nvPr>
        </p:nvSpPr>
        <p:spPr/>
        <p:txBody>
          <a:bodyPr/>
          <a:lstStyle/>
          <a:p>
            <a:r>
              <a:rPr lang="en-US" dirty="0"/>
              <a:t>maybe</a:t>
            </a:r>
          </a:p>
        </p:txBody>
      </p:sp>
      <p:pic>
        <p:nvPicPr>
          <p:cNvPr id="4" name="Content Placeholder 3">
            <a:extLst>
              <a:ext uri="{FF2B5EF4-FFF2-40B4-BE49-F238E27FC236}">
                <a16:creationId xmlns:a16="http://schemas.microsoft.com/office/drawing/2014/main" id="{E38CD6A2-3754-66D6-100C-955A09E0956E}"/>
              </a:ext>
            </a:extLst>
          </p:cNvPr>
          <p:cNvPicPr>
            <a:picLocks noGrp="1" noChangeAspect="1"/>
          </p:cNvPicPr>
          <p:nvPr>
            <p:ph idx="1"/>
          </p:nvPr>
        </p:nvPicPr>
        <p:blipFill>
          <a:blip r:embed="rId2"/>
          <a:stretch>
            <a:fillRect/>
          </a:stretch>
        </p:blipFill>
        <p:spPr>
          <a:xfrm>
            <a:off x="3500824" y="365125"/>
            <a:ext cx="7852976" cy="5957925"/>
          </a:xfrm>
          <a:prstGeom prst="rect">
            <a:avLst/>
          </a:prstGeom>
        </p:spPr>
      </p:pic>
    </p:spTree>
    <p:extLst>
      <p:ext uri="{BB962C8B-B14F-4D97-AF65-F5344CB8AC3E}">
        <p14:creationId xmlns:p14="http://schemas.microsoft.com/office/powerpoint/2010/main" val="862934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332</Words>
  <Application>Microsoft Macintosh PowerPoint</Application>
  <PresentationFormat>Widescreen</PresentationFormat>
  <Paragraphs>20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160 AI&amp; VR  Thurs’s Class Activities</vt:lpstr>
      <vt:lpstr>PowerPoint Presentation</vt:lpstr>
      <vt:lpstr>Getting started as a student – interaction </vt:lpstr>
      <vt:lpstr>PowerPoint Presentation</vt:lpstr>
      <vt:lpstr>Start here </vt:lpstr>
      <vt:lpstr>PowerPoint Presentation</vt:lpstr>
      <vt:lpstr>Add CTA to AI Methodology </vt:lpstr>
      <vt:lpstr>PowerPoint Presentation</vt:lpstr>
      <vt:lpstr>After the collect article page</vt:lpstr>
      <vt:lpstr>PowerPoint Presentation</vt:lpstr>
      <vt:lpstr>This is the course schedule page that becomes the student default</vt:lpstr>
      <vt:lpstr>END – ignore next pages </vt:lpstr>
      <vt:lpstr>PowerPoint Presentation</vt:lpstr>
      <vt:lpstr>PowerPoint Presentation</vt:lpstr>
      <vt:lpstr>maybe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Kirsh</dc:creator>
  <cp:lastModifiedBy>David Kirsh</cp:lastModifiedBy>
  <cp:revision>1</cp:revision>
  <dcterms:created xsi:type="dcterms:W3CDTF">2026-04-02T14:41:40Z</dcterms:created>
  <dcterms:modified xsi:type="dcterms:W3CDTF">2026-04-02T15:49:26Z</dcterms:modified>
</cp:coreProperties>
</file>